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EduScheduler turns the painful, manual job of building college timetables into a one-click task. Today I'll show what it does, who uses it, and why it matters — no technical background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Anyone who has built a timetable knows the pain: days of spreadsheet work, and a single change means starting over. Clashes are easy to create and hard to catch. EduScheduler removes that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system is three steps: upload your data, click generate, and view or share. That's it — the complexity is hidden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roles. Admin runs everything. Department admins are locked to their own department. Professors see only their own schedule. Students need no account at all — they just pick their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Prepare, upload, generate, distribute. And it's repeatable — re-uploading rebuilds the timetable instantly, without disturbing departments that didn't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spreadsheets describe the whole college. Each has a downloadable template with examples. The importer is forgiving about formats — it understands ordinals, room codes and different spellings.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button. The engine places every class while juggling all the rules at once, in seconds. And if something truly can't fit, it tells you — it never hides 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rules a human would try to remember. The system enforces all of them at once: no overload, fair workload, lunch breaks, no clashes, fixed and blocked times, and smart room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Labs run as proper two-hour blocks, and while one group is in the lab the others do tutorials at the same time, so nobody is idle. Electives for a semester run together so students just choose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colleges share staff and rooms. The system sees the whole college at once, so shared rooms and shared professors are never double-booked — and one department's upload never breaks another's timetable.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gets the view they need — by section, professor, room or semester — and any of them exports to PDF, spreadsheet, or a QR code students can scan with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Access is enforced at every page. A department admin can't even open another department's pages. Students need no password; professors log in with their name and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bottom line: days of work become a click, clashes are designed out, four roles are served by one secure system, and the whole college can be regenerated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wrap up: EduScheduler makes timetabling smart and painless. Upload once, generate in a click, and everyone gets their schedule.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1005840"/>
            <a:ext cx="3840480" cy="3840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4480560"/>
            <a:ext cx="3291840" cy="3291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868680"/>
            <a:ext cx="868680" cy="868680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>
                <a:solidFill>
                  <a:srgbClr val="141833"/>
                </a:solidFill>
                <a:latin typeface="Calibri"/>
              </a:rP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73152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EduScheduler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Smart College Timetable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4A93C"/>
                </a:solidFill>
                <a:latin typeface="Cambria"/>
              </a:rP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607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Upload your data, click once, and get a clash-free timetable for every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department, professor, room and student —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440680"/>
            <a:ext cx="2267712" cy="457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440680"/>
            <a:ext cx="226771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Automatic Scheduling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5440680"/>
            <a:ext cx="1971446" cy="457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5440680"/>
            <a:ext cx="197144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Role-Based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4726" y="5440680"/>
            <a:ext cx="1872691" cy="457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4726" y="5440680"/>
            <a:ext cx="187269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One-Click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Building timetables by hand is hard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93592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148840"/>
            <a:ext cx="868680" cy="8686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>
                <a:solidFill>
                  <a:srgbClr val="1E2761"/>
                </a:solidFill>
                <a:latin typeface="Calibri"/>
              </a:rPr>
              <a:t>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246120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Days of effort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794760"/>
            <a:ext cx="295351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F86"/>
                </a:solidFill>
                <a:latin typeface="Calibri"/>
              </a:rPr>
              <a:t>Coordinators spend days juggling spreadsheets every semester — and redo it all whenever one change happens.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593592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2148840"/>
            <a:ext cx="868680" cy="8686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>
                <a:solidFill>
                  <a:srgbClr val="1E2761"/>
                </a:solidFill>
                <a:latin typeface="Calibri"/>
              </a:rP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46120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Costly clashes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794760"/>
            <a:ext cx="295351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F86"/>
                </a:solidFill>
                <a:latin typeface="Calibri"/>
              </a:rPr>
              <a:t>A professor in two rooms at once, or two classes in one room — mistakes that are easy to make and hard to spot.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593592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32519" y="2148840"/>
            <a:ext cx="868680" cy="8686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>
                <a:solidFill>
                  <a:srgbClr val="1E2761"/>
                </a:solidFill>
                <a:latin typeface="Calibri"/>
              </a:rPr>
              <a:t>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19" y="3246120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Too many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19" y="3794760"/>
            <a:ext cx="295351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F86"/>
                </a:solidFill>
                <a:latin typeface="Calibri"/>
              </a:rPr>
              <a:t>Lunch breaks, lab pairings, workload limits, shared faculty across departments — all must line up at once.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F36"/>
                </a:solidFill>
                <a:latin typeface="Calibri"/>
              </a:rPr>
              <a:t>The result: </a:t>
            </a:r>
            <a:r>
              <a:rPr sz="1400" b="0" i="1">
                <a:solidFill>
                  <a:srgbClr val="555F86"/>
                </a:solidFill>
                <a:latin typeface="Calibri"/>
              </a:rPr>
              <a:t>wasted time, frustrated staff, and timetables that still contain mistakes.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One system, three simple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93592" cy="320040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79676" y="21945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359359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1 ·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86200"/>
            <a:ext cx="2862072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F86"/>
                </a:solidFill>
                <a:latin typeface="Calibri"/>
              </a:rPr>
              <a:t>Fill in five simple spreadsheets and upload them — departments, professors, rooms, sections and subjects.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7952" y="2743200"/>
            <a:ext cx="4572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A93C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3593592" cy="320040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65876" y="21945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337560"/>
            <a:ext cx="359359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2 ·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886200"/>
            <a:ext cx="2862072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F86"/>
                </a:solidFill>
                <a:latin typeface="Calibri"/>
              </a:rPr>
              <a:t>Click once. The system builds a complete, clash-free timetable that respects every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743200"/>
            <a:ext cx="4572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A93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74519"/>
            <a:ext cx="3593592" cy="320040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52076" y="21945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👁️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37560"/>
            <a:ext cx="359359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3 · View &amp;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886200"/>
            <a:ext cx="2862072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F86"/>
                </a:solidFill>
                <a:latin typeface="Calibri"/>
              </a:rPr>
              <a:t>Everyone sees their own view — and exports to PDF, spreadsheet or a scannable QR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No formulas. No manual checking. The computer does the heavy lifting — you stay in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WHO USES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Four kinds of users, one login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79192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103120"/>
            <a:ext cx="841248" cy="8412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127248"/>
            <a:ext cx="21305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E2761"/>
                </a:solidFill>
                <a:latin typeface="Cambria"/>
              </a:rPr>
              <a:t>Administrator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3611880"/>
            <a:ext cx="2093976" cy="36576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611880"/>
            <a:ext cx="209397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Full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11480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Manages every department, uploads data, creates accounts and generates timetables.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828800"/>
            <a:ext cx="2679192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77056" y="2103120"/>
            <a:ext cx="841248" cy="841248"/>
          </a:xfrm>
          <a:prstGeom prst="ellipse">
            <a:avLst/>
          </a:prstGeom>
          <a:solidFill>
            <a:srgbClr val="2B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3127248"/>
            <a:ext cx="21305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E2761"/>
                </a:solidFill>
                <a:latin typeface="Cambria"/>
              </a:rPr>
              <a:t>Department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7056" y="3611880"/>
            <a:ext cx="2093976" cy="36576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3611880"/>
            <a:ext cx="209397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Their department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411480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Uploads and manages their own department — and cannot see or change any other.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6" y="1828800"/>
            <a:ext cx="2679192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21424" y="2103120"/>
            <a:ext cx="841248" cy="841248"/>
          </a:xfrm>
          <a:prstGeom prst="ellipse">
            <a:avLst/>
          </a:prstGeom>
          <a:solidFill>
            <a:srgbClr val="3A4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👨‍🏫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3127248"/>
            <a:ext cx="21305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E2761"/>
                </a:solidFill>
                <a:latin typeface="Cambria"/>
              </a:rPr>
              <a:t>Professor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3611880"/>
            <a:ext cx="2093976" cy="36576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4" y="3611880"/>
            <a:ext cx="209397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Own timetable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411480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Logs in with their name and ID to view only their personal teaching schedule.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73184" y="1828800"/>
            <a:ext cx="2679192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65792" y="2103120"/>
            <a:ext cx="841248" cy="841248"/>
          </a:xfrm>
          <a:prstGeom prst="ellipse">
            <a:avLst/>
          </a:prstGeom>
          <a:solidFill>
            <a:srgbClr val="55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127248"/>
            <a:ext cx="213055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E2761"/>
                </a:solidFill>
                <a:latin typeface="Cambria"/>
              </a:rPr>
              <a:t>Student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65792" y="3611880"/>
            <a:ext cx="2093976" cy="36576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3611880"/>
            <a:ext cx="209397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No 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4114800"/>
            <a:ext cx="21305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Simply picks their department, course, semester and section to see their timetable.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1A1F36"/>
                </a:solidFill>
                <a:latin typeface="Calibri"/>
              </a:rPr>
              <a:t>Everyone sees exactly what they need — and nothing they shouldn’t.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From spreadsheet to finished timetable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4884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441448"/>
            <a:ext cx="786384" cy="786384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141833"/>
                </a:solidFill>
                <a:latin typeface="Calibri"/>
              </a:rP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23160"/>
            <a:ext cx="13258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383280"/>
            <a:ext cx="2057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Download the ready-made templates and fill in your details.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926080"/>
            <a:ext cx="38404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4884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03320" y="2441448"/>
            <a:ext cx="786384" cy="786384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141833"/>
                </a:solidFill>
                <a:latin typeface="Calibri"/>
              </a:rPr>
              <a:t>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423160"/>
            <a:ext cx="13258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3383280"/>
            <a:ext cx="2057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Drag the five files in. The system reads and checks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926080"/>
            <a:ext cx="38404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73952" y="2441448"/>
            <a:ext cx="786384" cy="786384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141833"/>
                </a:solidFill>
                <a:latin typeface="Calibri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2423160"/>
            <a:ext cx="13258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2057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One click builds the full timetable using all the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2926080"/>
            <a:ext cx="38404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214884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44584" y="2441448"/>
            <a:ext cx="786384" cy="786384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141833"/>
                </a:solidFill>
                <a:latin typeface="Calibri"/>
              </a:rPr>
              <a:t>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0696" y="2423160"/>
            <a:ext cx="13258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Distribute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3383280"/>
            <a:ext cx="2057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Share via dashboard, PDF, spreadsheet or QR code.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2920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029200"/>
            <a:ext cx="10332720" cy="1051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A93C"/>
                </a:solidFill>
                <a:latin typeface="Calibri"/>
              </a:rPr>
              <a:t>Re-upload anytime.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Change a professor or add a section, upload again, and the timetable rebuilds itself — other departments stay untouched.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STEP 1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Five simple files describe your college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75688"/>
            <a:ext cx="621792" cy="6217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75104"/>
            <a:ext cx="4160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Departments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59152"/>
            <a:ext cx="4114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Working hours, start time and lunch break for each department.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2075688"/>
            <a:ext cx="621792" cy="6217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👩‍🏫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79" y="1975104"/>
            <a:ext cx="4160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Professors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79" y="2359152"/>
            <a:ext cx="4114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Names, IDs, workload limits, subjects, plus must-teach and unavailable times.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310128"/>
            <a:ext cx="621792" cy="6217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9544"/>
            <a:ext cx="4160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Rooms &amp;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93592"/>
            <a:ext cx="4114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Room names, capacities and which subjects each lab can host.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6324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3310128"/>
            <a:ext cx="621792" cy="6217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3209544"/>
            <a:ext cx="4160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3593592"/>
            <a:ext cx="4114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Each class group, its students, fixed room and any weekly holiday.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544568"/>
            <a:ext cx="621792" cy="6217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43984"/>
            <a:ext cx="4160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Subjects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828032"/>
            <a:ext cx="4114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Theory, lab, tutorial, NPTEL and elective hours per week.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4544568"/>
            <a:ext cx="621792" cy="621792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>
                <a:solidFill>
                  <a:srgbClr val="141833"/>
                </a:solidFill>
                <a:latin typeface="Calibri"/>
              </a:rPr>
              <a:t>⬇️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4425696"/>
            <a:ext cx="4160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Download-ready templates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4809744"/>
            <a:ext cx="4114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Pre-filled examples you just edit — no guesswork about the format.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1">
                <a:solidFill>
                  <a:srgbClr val="1A1F36"/>
                </a:solidFill>
                <a:latin typeface="Calibri"/>
              </a:rPr>
              <a:t>Names can be messy — “3rd” or “Semester 3”, “MB-202” or “Room 202” — the system understands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3657600" cy="3657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STEP 2 · 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One click builds the entire timetable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1371600" cy="1371600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200">
                <a:solidFill>
                  <a:srgbClr val="141833"/>
                </a:solidFill>
                <a:latin typeface="Calibr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057400"/>
            <a:ext cx="9144000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Behind the button is a scheduling engine that places every class for every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group — while checking dozens of rules at the same time,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359359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4A93C"/>
                </a:solidFill>
                <a:latin typeface="Cambria"/>
              </a:rPr>
              <a:t>Every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30449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class placed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84048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069080"/>
            <a:ext cx="359359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4A93C"/>
                </a:solidFill>
                <a:latin typeface="Cambria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937760"/>
            <a:ext cx="30449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double-bookings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84048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069080"/>
            <a:ext cx="359359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4A93C"/>
                </a:solidFill>
                <a:latin typeface="Cambria"/>
              </a:rPr>
              <a:t>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937760"/>
            <a:ext cx="30449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not days of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CADCFC"/>
                </a:solidFill>
                <a:latin typeface="Calibri"/>
              </a:rPr>
              <a:t>If a class genuinely cannot fit, you get a clear warning — never a silent mistake.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THE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rules it follows — automatically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93592" cy="1783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103120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2084832"/>
            <a:ext cx="24963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No back-to-back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3090672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Never three classes — or three labs — in a row for a professor.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593592" cy="1783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82312" y="2103120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0408" y="2084832"/>
            <a:ext cx="24963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Fair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88920"/>
            <a:ext cx="3090672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Teaching is spread evenly across the week and across staff.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593592" cy="1783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68511" y="2103120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🍽️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6608" y="2084832"/>
            <a:ext cx="24963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Lunch respected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88920"/>
            <a:ext cx="3090672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No classes during each department’s lunch break; online (NPTEL) classes only after lunch.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67912"/>
            <a:ext cx="3593592" cy="1783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142232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123944"/>
            <a:ext cx="24963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No clashes anywhere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28032"/>
            <a:ext cx="3090672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One room, one class. A shared professor is never in two places at once.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867912"/>
            <a:ext cx="3593592" cy="1783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82312" y="4142232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8" y="4123944"/>
            <a:ext cx="24963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Fixed &amp; blocked times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828032"/>
            <a:ext cx="3090672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Honours “must teach at this time” and “unavailable” slots from the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867912"/>
            <a:ext cx="3593592" cy="1783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68511" y="4142232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4123944"/>
            <a:ext cx="24963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Smart room choice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828032"/>
            <a:ext cx="3090672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Uses a section’s fixed room, or finds a free room in the same department.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SPECIAL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Labs, tutorials and electives — handled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935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103120"/>
            <a:ext cx="868680" cy="8686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>
                <a:solidFill>
                  <a:srgbClr val="1E2761"/>
                </a:solidFill>
                <a:latin typeface="Calibri"/>
              </a:rPr>
              <a:t>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148840"/>
            <a:ext cx="222199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Two-hour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3154680"/>
            <a:ext cx="295351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A lab takes two back-to-back periods in a proper lab room — never split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5935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2103120"/>
            <a:ext cx="868680" cy="8686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>
                <a:solidFill>
                  <a:srgbClr val="1E2761"/>
                </a:solidFill>
                <a:latin typeface="Calibri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148840"/>
            <a:ext cx="222199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Parallel tutorials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3154680"/>
            <a:ext cx="295351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While one group is in the lab, other groups run their tutorials at the same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5935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32519" y="2103120"/>
            <a:ext cx="868680" cy="8686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>
                <a:solidFill>
                  <a:srgbClr val="1E2761"/>
                </a:solidFill>
                <a:latin typeface="Calibri"/>
              </a:rPr>
              <a:t>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2148840"/>
            <a:ext cx="2221992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Electives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3" y="3154680"/>
            <a:ext cx="295351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86"/>
                </a:solidFill>
                <a:latin typeface="Calibri"/>
              </a:rPr>
              <a:t>A semester’s electives run in the same slot, in different rooms — so a student simply picks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90879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Example — one two-hour block, three groups all busy: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07492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3892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Group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Lab  (Room L1)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507492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513892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Group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486400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Tutorial (R2)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507492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513892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Group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486400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Tutorial (R3)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Departments that don’t collide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658368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36"/>
                </a:solidFill>
                <a:latin typeface="Calibri"/>
              </a:rPr>
              <a:t>Colleges share professors and rooms across departments. EduScheduler treats the whole college as one picture, so: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807208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6126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F36"/>
                </a:solidFill>
                <a:latin typeface="Calibri"/>
              </a:rPr>
              <a:t>A room is never double-booked, even across two departments.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67588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6126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F36"/>
                </a:solidFill>
                <a:latin typeface="Calibri"/>
              </a:rPr>
              <a:t>A professor teaching in two departments is never scheduled twice at once.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544568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6126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F36"/>
                </a:solidFill>
                <a:latin typeface="Calibri"/>
              </a:rPr>
              <a:t>When one department re-uploads, the shared professor’s timetable updates — and the others are left intact.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783080"/>
            <a:ext cx="3913632" cy="38404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Shared resources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468880"/>
            <a:ext cx="345643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587752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👤  Dr. Sharma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26080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teaches CSE + ECE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474720"/>
            <a:ext cx="345643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593592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B5CA8"/>
                </a:solidFill>
                <a:latin typeface="Calibri"/>
              </a:rPr>
              <a:t>🚪  Seminar Hall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931920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used by 3 departments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480560"/>
            <a:ext cx="3456432" cy="86868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80560"/>
            <a:ext cx="345643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✓  Always conflict-free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STEP 3 ·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Every view, every format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7919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68196" y="205740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🗂️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67919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By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21305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Each class group’s weekly grid.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4448" y="1828800"/>
            <a:ext cx="267919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12564" y="205740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👨‍🏫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3017520"/>
            <a:ext cx="267919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By professor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3429000"/>
            <a:ext cx="21305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A teacher’s personal schedule with fixed/blocked times marked.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8816" y="1828800"/>
            <a:ext cx="267919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56932" y="205740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017520"/>
            <a:ext cx="267919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By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3429000"/>
            <a:ext cx="21305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What happens in each room, all week.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1828800"/>
            <a:ext cx="267919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01300" y="205740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3017520"/>
            <a:ext cx="267919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By semester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3429000"/>
            <a:ext cx="21305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86"/>
                </a:solidFill>
                <a:latin typeface="Calibri"/>
              </a:rPr>
              <a:t>A whole semester at a glance.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43400"/>
            <a:ext cx="10908792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Export &amp; share in one click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074920"/>
            <a:ext cx="658368" cy="658368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>
                <a:solidFill>
                  <a:srgbClr val="141833"/>
                </a:solidFill>
                <a:latin typeface="Calibri"/>
              </a:rP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02920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Print-ready timetables</a:t>
            </a:r>
          </a:p>
        </p:txBody>
      </p:sp>
      <p:sp>
        <p:nvSpPr>
          <p:cNvPr id="25" name="Oval 24"/>
          <p:cNvSpPr/>
          <p:nvPr/>
        </p:nvSpPr>
        <p:spPr>
          <a:xfrm>
            <a:off x="4526280" y="5074920"/>
            <a:ext cx="658368" cy="658368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>
                <a:solidFill>
                  <a:srgbClr val="141833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02920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Spreadsheet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39496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Open in Excel</a:t>
            </a:r>
          </a:p>
        </p:txBody>
      </p:sp>
      <p:sp>
        <p:nvSpPr>
          <p:cNvPr id="28" name="Oval 27"/>
          <p:cNvSpPr/>
          <p:nvPr/>
        </p:nvSpPr>
        <p:spPr>
          <a:xfrm>
            <a:off x="8138160" y="5074920"/>
            <a:ext cx="658368" cy="658368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>
                <a:solidFill>
                  <a:srgbClr val="141833"/>
                </a:solidFill>
                <a:latin typeface="Calibri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2920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QR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39496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Scan to view on a phone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Everyone sees only what they should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4151376" cy="6400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96849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965960"/>
            <a:ext cx="1618488" cy="6400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965960"/>
            <a:ext cx="161848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9672" y="1965960"/>
            <a:ext cx="1728216" cy="6400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65960"/>
            <a:ext cx="17282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Dept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965960"/>
            <a:ext cx="1545336" cy="6400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65960"/>
            <a:ext cx="154533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Professor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2952" y="1965960"/>
            <a:ext cx="1499616" cy="6400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2952" y="1965960"/>
            <a:ext cx="14996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Student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79191"/>
            <a:ext cx="4151376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79191"/>
            <a:ext cx="396849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Upload data &amp; generate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679191"/>
            <a:ext cx="1618488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79191"/>
            <a:ext cx="161848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✓ 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9672" y="2679191"/>
            <a:ext cx="1728216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679191"/>
            <a:ext cx="17282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✓ own dept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2679191"/>
            <a:ext cx="1545336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679191"/>
            <a:ext cx="154533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2679191"/>
            <a:ext cx="1499616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2679191"/>
            <a:ext cx="14996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92424"/>
            <a:ext cx="415137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392424"/>
            <a:ext cx="396849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Manage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392424"/>
            <a:ext cx="16184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392424"/>
            <a:ext cx="161848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9672" y="3392424"/>
            <a:ext cx="172821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3392424"/>
            <a:ext cx="17282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3392424"/>
            <a:ext cx="154533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392424"/>
            <a:ext cx="154533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02952" y="3392424"/>
            <a:ext cx="149961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02952" y="3392424"/>
            <a:ext cx="14996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105656"/>
            <a:ext cx="4151376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105656"/>
            <a:ext cx="396849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View any timetable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105656"/>
            <a:ext cx="1618488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4105656"/>
            <a:ext cx="161848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9672" y="4105656"/>
            <a:ext cx="1728216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4105656"/>
            <a:ext cx="17282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own dept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4105656"/>
            <a:ext cx="1545336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4105656"/>
            <a:ext cx="154533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own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02952" y="4105656"/>
            <a:ext cx="1499616" cy="6400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02952" y="4105656"/>
            <a:ext cx="14996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own only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818888"/>
            <a:ext cx="415137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4818888"/>
            <a:ext cx="396849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Needs a password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46320" y="4818888"/>
            <a:ext cx="16184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4818888"/>
            <a:ext cx="161848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19672" y="4818888"/>
            <a:ext cx="172821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4818888"/>
            <a:ext cx="17282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02752" y="4818888"/>
            <a:ext cx="154533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2" y="4818888"/>
            <a:ext cx="154533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✓ (ID)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02952" y="4818888"/>
            <a:ext cx="149961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02952" y="4818888"/>
            <a:ext cx="14996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F36"/>
                </a:solidFill>
                <a:latin typeface="Calibri"/>
              </a:rP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55F86"/>
                </a:solidFill>
                <a:latin typeface="Calibri"/>
              </a:rPr>
              <a:t>A department admin literally cannot open another department’s pages — access is enforced, not just hidden.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A93C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Days of work become a single click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58568"/>
            <a:ext cx="46177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4A93C"/>
                </a:solidFill>
                <a:latin typeface="Cambria"/>
              </a:rPr>
              <a:t>Days →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7" y="3017520"/>
            <a:ext cx="45720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Timetables that took days are generated in moments.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20574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2258568"/>
            <a:ext cx="46177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4A93C"/>
                </a:solidFill>
                <a:latin typeface="Cambria"/>
              </a:rPr>
              <a:t>0 clashes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017520"/>
            <a:ext cx="45720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No double-booked rooms or professors — guaranteed by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33087"/>
            <a:ext cx="46177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4A93C"/>
                </a:solidFill>
                <a:latin typeface="Cambria"/>
              </a:rPr>
              <a:t>4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4892040"/>
            <a:ext cx="45720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One secure system for admins, departments, staff and students.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393192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0000" dist="38000" dir="5400000" rotWithShape="0">
              <a:srgbClr val="1E2761">
                <a:alpha val="8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4133087"/>
            <a:ext cx="46177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4A93C"/>
                </a:solidFill>
                <a:latin typeface="Cambria"/>
              </a:rPr>
              <a:t>1 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5720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Re-generate the whole college whenever anything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1097280"/>
            <a:ext cx="4023360" cy="4023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389120"/>
            <a:ext cx="3474720" cy="34747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>
                <a:solidFill>
                  <a:srgbClr val="141833"/>
                </a:solidFill>
                <a:latin typeface="Calibri"/>
              </a:rPr>
              <a:t>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Smarter timetables,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4A93C"/>
                </a:solidFill>
                <a:latin typeface="Cambria"/>
              </a:rPr>
              <a:t>zero headaches.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34840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Upload once. Generate in a click. Share with everyone.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349240"/>
            <a:ext cx="4480560" cy="685800"/>
          </a:xfrm>
          <a:prstGeom prst="roundRect">
            <a:avLst>
              <a:gd name="adj" fmla="val 6000"/>
            </a:avLst>
          </a:prstGeom>
          <a:solidFill>
            <a:srgbClr val="F4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349240"/>
            <a:ext cx="44805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833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